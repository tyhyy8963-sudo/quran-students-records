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1E2124"/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206240"/>
            <a:ext cx="5120640" cy="5120640"/>
          </a:xfrm>
          <a:prstGeom prst="ellipse">
            <a:avLst/>
          </a:prstGeom>
          <a:solidFill>
            <a:srgbClr val="1E2124"/>
          </a:solidFill>
          <a:ln/>
        </p:spPr>
      </p:sp>
      <p:pic>
        <p:nvPicPr>
          <p:cNvPr id="4" name="Image 0" descr="/home/claude/logowork/logo-full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8528" y="502920"/>
            <a:ext cx="2834640" cy="408365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0" y="5806440"/>
            <a:ext cx="121916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68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عرض تقديمي للشركاء والمستثمرين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0" y="6236208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A6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منظومة متكاملة لمتابعة تحفيظ القرآن الكريم  ·  سبتمبر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spc="100" kern="0" dirty="0">
                <a:solidFill>
                  <a:srgbClr val="AD7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السياق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4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متابعة تحفيظ القرآن لا تزال تُدار بأدوات لا تليق بها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957255" y="1920240"/>
            <a:ext cx="512064" cy="512064"/>
          </a:xfrm>
          <a:prstGeom prst="ellipse">
            <a:avLst/>
          </a:prstGeom>
          <a:solidFill>
            <a:srgbClr val="AD701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957255" y="191109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1901952"/>
            <a:ext cx="98599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دفاتر ورقية وجداول Excel متفرقة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267712"/>
            <a:ext cx="985997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1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معلّم يحتفظ بسجلّاته بطريقته الخاصة، فلا صورة موحّدة لتقدّم الطالب عبر الزمن.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957255" y="3035808"/>
            <a:ext cx="512064" cy="512064"/>
          </a:xfrm>
          <a:prstGeom prst="ellipse">
            <a:avLst/>
          </a:prstGeom>
          <a:solidFill>
            <a:srgbClr val="AD701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957255" y="30266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017520"/>
            <a:ext cx="98599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رؤية شاملة للإدارة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3383280"/>
            <a:ext cx="985997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1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مدير الحلقات لا يملك طريقة سريعة لمقارنة أداء المعلّمين أو رصد الطلاب المتأخرين قبل فوات الأوان.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957255" y="4151376"/>
            <a:ext cx="512064" cy="512064"/>
          </a:xfrm>
          <a:prstGeom prst="ellipse">
            <a:avLst/>
          </a:prstGeom>
          <a:solidFill>
            <a:srgbClr val="AD701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957255" y="414223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4133088"/>
            <a:ext cx="98599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نِسَب حفظ غير دقيقة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4498848"/>
            <a:ext cx="985997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1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احتساب التقدّم بعدد السور فقط يُعطي انطباعًا مضلّلًا: سور قصيرة كثيرة تبدو كإنجاز كبير رغم أنها جزء يسير من حجم القرآن الفعلي.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957255" y="5266944"/>
            <a:ext cx="512064" cy="512064"/>
          </a:xfrm>
          <a:prstGeom prst="ellipse">
            <a:avLst/>
          </a:prstGeom>
          <a:solidFill>
            <a:srgbClr val="AD701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957255" y="52578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5248656"/>
            <a:ext cx="98599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غياب الخصوصية المؤسسية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5614416"/>
            <a:ext cx="985997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1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أدوات عامة (نماذج مشتركة، ملفات إكسل متداولة) لا تحقّق العزل والانضباط الذي تحتاجه مؤسسة تحفيظ.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435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350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spc="100" kern="0" dirty="0">
                <a:solidFill>
                  <a:srgbClr val="C68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الحل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960120"/>
            <a:ext cx="1072865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رِواق: مساحة واحدة تجمع كل ما يحتاجه المعلّم والإدارة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148840"/>
            <a:ext cx="1072865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DEB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نظام ويب عربي مغلق (PWA) بُني خصّيصًا لحلقات ومراكز تحفيظ القرآن — لا لتطبيق عام أُعيد تدويره لهذا الغرض. كل سجلّ حفظ ومراجعة وحضور ومتن يُدخَل مرّة واحدة، ويظهر فورًا في كل لوحة تحتاجه: لوحة المعلّم، تقرير الطالب، تقارير الإدارة.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3429000"/>
            <a:ext cx="3332378" cy="2651760"/>
          </a:xfrm>
          <a:prstGeom prst="roundRect">
            <a:avLst>
              <a:gd name="adj" fmla="val 3448"/>
            </a:avLst>
          </a:prstGeom>
          <a:solidFill>
            <a:srgbClr val="1E2124"/>
          </a:solidFill>
          <a:ln/>
        </p:spPr>
      </p:sp>
      <p:sp>
        <p:nvSpPr>
          <p:cNvPr id="7" name="Shape 5"/>
          <p:cNvSpPr/>
          <p:nvPr/>
        </p:nvSpPr>
        <p:spPr>
          <a:xfrm>
            <a:off x="2123389" y="3703320"/>
            <a:ext cx="548640" cy="548640"/>
          </a:xfrm>
          <a:prstGeom prst="ellipse">
            <a:avLst/>
          </a:prstGeom>
          <a:solidFill>
            <a:srgbClr val="AD701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123389" y="369417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4434840"/>
            <a:ext cx="28751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مصدر واحد للحقيقة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4892040"/>
            <a:ext cx="278373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8A6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نسبة تقدّم تُحسب من دالّة مركزية واحدة تستدعيها كل الشاشات، فلا يظهر رقمان مختلفان لنفس الطالب أبدًا.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29658" y="3429000"/>
            <a:ext cx="3332378" cy="2651760"/>
          </a:xfrm>
          <a:prstGeom prst="roundRect">
            <a:avLst>
              <a:gd name="adj" fmla="val 3448"/>
            </a:avLst>
          </a:prstGeom>
          <a:solidFill>
            <a:srgbClr val="1E2124"/>
          </a:solidFill>
          <a:ln/>
        </p:spPr>
      </p:sp>
      <p:sp>
        <p:nvSpPr>
          <p:cNvPr id="12" name="Shape 10"/>
          <p:cNvSpPr/>
          <p:nvPr/>
        </p:nvSpPr>
        <p:spPr>
          <a:xfrm>
            <a:off x="5821528" y="3703320"/>
            <a:ext cx="548640" cy="548640"/>
          </a:xfrm>
          <a:prstGeom prst="ellipse">
            <a:avLst/>
          </a:prstGeom>
          <a:solidFill>
            <a:srgbClr val="AD701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821528" y="369417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4658258" y="4434840"/>
            <a:ext cx="28751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دقّة حسابية حقيقية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703978" y="4892040"/>
            <a:ext cx="278373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8A6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نسبة الحفظ موزونة بالحجم الفعلي للقرآن (240 ربعًا) لا بعدد السور، فتعكس الجهد الحقيقي للطالب.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27797" y="3429000"/>
            <a:ext cx="3332378" cy="2651760"/>
          </a:xfrm>
          <a:prstGeom prst="roundRect">
            <a:avLst>
              <a:gd name="adj" fmla="val 3448"/>
            </a:avLst>
          </a:prstGeom>
          <a:solidFill>
            <a:srgbClr val="1E2124"/>
          </a:solidFill>
          <a:ln/>
        </p:spPr>
      </p:sp>
      <p:sp>
        <p:nvSpPr>
          <p:cNvPr id="17" name="Shape 15"/>
          <p:cNvSpPr/>
          <p:nvPr/>
        </p:nvSpPr>
        <p:spPr>
          <a:xfrm>
            <a:off x="9519666" y="3703320"/>
            <a:ext cx="548640" cy="548640"/>
          </a:xfrm>
          <a:prstGeom prst="ellipse">
            <a:avLst/>
          </a:prstGeom>
          <a:solidFill>
            <a:srgbClr val="AD701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519666" y="369417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8356397" y="4434840"/>
            <a:ext cx="28751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نظام مغلق بالكامل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402117" y="4892040"/>
            <a:ext cx="278373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8A6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تسجيل ذاتي، لا بريد إلكتروني، لا روابط عامة — كل حساب يُنشئه المدير من داخل النظام فقط.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A6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spc="100" kern="0" dirty="0">
                <a:solidFill>
                  <a:srgbClr val="AD7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الفئة المستهدفة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24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لمن صُمِّم رِواق؟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18144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9E5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44288" y="2148840"/>
            <a:ext cx="512064" cy="512064"/>
          </a:xfrm>
          <a:prstGeom prst="ellipse">
            <a:avLst/>
          </a:prstGeom>
          <a:solidFill>
            <a:srgbClr val="3B561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44288" y="213969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130552"/>
            <a:ext cx="3901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مراكز ودور تحفيظ القرآن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624328"/>
            <a:ext cx="454136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1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مؤسسات بها أكثر من معلّم وأكثر من حلقة، تحتاج إدارة موحّدة بدل ملفات متفرقة لدى كل معلّم.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70168" y="1874520"/>
            <a:ext cx="518144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9E5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774375" y="2148840"/>
            <a:ext cx="512064" cy="512064"/>
          </a:xfrm>
          <a:prstGeom prst="ellipse">
            <a:avLst/>
          </a:prstGeom>
          <a:solidFill>
            <a:srgbClr val="3B561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774375" y="213969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690208" y="2130552"/>
            <a:ext cx="3901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إدارة الحلقات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690208" y="2624328"/>
            <a:ext cx="454136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1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يحتاج رؤية لحظية لأداء كل معلّم وكل حلقة، ومقارنة موضوعية بينها، وتنبيهًا مبكرًا لأي تراجع.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4160520"/>
            <a:ext cx="518144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9E5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44288" y="4434840"/>
            <a:ext cx="512064" cy="512064"/>
          </a:xfrm>
          <a:prstGeom prst="ellipse">
            <a:avLst/>
          </a:prstGeom>
          <a:solidFill>
            <a:srgbClr val="3B561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044288" y="442569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960120" y="4416552"/>
            <a:ext cx="3901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المعلّم في حلقته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4910328"/>
            <a:ext cx="454136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1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متابعة يومية سريعة لكل طالب: حفظ، مراجعة، متون، حضور — من شاشة واحدة تعمل بسلاسة على الجوال.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70168" y="4160520"/>
            <a:ext cx="518144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9E5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774375" y="4434840"/>
            <a:ext cx="512064" cy="512064"/>
          </a:xfrm>
          <a:prstGeom prst="ellipse">
            <a:avLst/>
          </a:prstGeom>
          <a:solidFill>
            <a:srgbClr val="3B561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774375" y="442569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690208" y="4416552"/>
            <a:ext cx="3901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مؤسسات تلتزم بالخصوصية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690208" y="4910328"/>
            <a:ext cx="454136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1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حاجة لبيانات اتصال أولياء الأمور ولا روابط مشاركة عامة؛ البيانات تبقى داخل حسابات المؤسسة فقط.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spc="100" kern="0" dirty="0">
                <a:solidFill>
                  <a:srgbClr val="AD7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المزايا الجوهرية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4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ما تحتاجه حلقة تحفيظ، في نظام واحد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466490" y="1965960"/>
            <a:ext cx="566928" cy="566928"/>
          </a:xfrm>
          <a:prstGeom prst="ellipse">
            <a:avLst/>
          </a:prstGeom>
          <a:solidFill>
            <a:srgbClr val="3B561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466490" y="19568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38528"/>
            <a:ext cx="26618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الحلقات والطلاب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276856"/>
            <a:ext cx="266181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1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تنظيم كامل لحلقات كل معلّم وطلابه، مع عزل تام بين المعلّمين.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225589" y="1965960"/>
            <a:ext cx="566928" cy="566928"/>
          </a:xfrm>
          <a:prstGeom prst="ellipse">
            <a:avLst/>
          </a:prstGeom>
          <a:solidFill>
            <a:srgbClr val="3B561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225589" y="19568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399178" y="1938528"/>
            <a:ext cx="26618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سجلّ الحفظ والمراجعة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399178" y="2276856"/>
            <a:ext cx="266181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1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خط زمني كامل لكل سجل حفظ ومراجعة، مع منحنى تقدّم بصري.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0984687" y="1965960"/>
            <a:ext cx="566928" cy="566928"/>
          </a:xfrm>
          <a:prstGeom prst="ellipse">
            <a:avLst/>
          </a:prstGeom>
          <a:solidFill>
            <a:srgbClr val="3B561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984687" y="19568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158277" y="1938528"/>
            <a:ext cx="26618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الحضور والمتابعة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158277" y="2276856"/>
            <a:ext cx="266181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1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تحضير يومي سريع، وتنبيه تلقائي عند انقطاع الطالب عن الحضور.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466490" y="3931920"/>
            <a:ext cx="566928" cy="566928"/>
          </a:xfrm>
          <a:prstGeom prst="ellipse">
            <a:avLst/>
          </a:prstGeom>
          <a:solidFill>
            <a:srgbClr val="AD701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466490" y="392277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904488"/>
            <a:ext cx="26618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المتون العلمية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4242816"/>
            <a:ext cx="266181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1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تتبّع متوازٍ لستّة متون (الجزرية، تحفة الأطفال، الشاطبية وغيرها) لكل طالب.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225589" y="3931920"/>
            <a:ext cx="566928" cy="566928"/>
          </a:xfrm>
          <a:prstGeom prst="ellipse">
            <a:avLst/>
          </a:prstGeom>
          <a:solidFill>
            <a:srgbClr val="AD701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225589" y="392277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4399178" y="3904488"/>
            <a:ext cx="26618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التقارير والتصدير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399178" y="4242816"/>
            <a:ext cx="266181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1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تقارير فترة قابلة للتصدير Excel/CSV، وإحصاءات فورية لكل حلقة.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0984687" y="3931920"/>
            <a:ext cx="566928" cy="566928"/>
          </a:xfrm>
          <a:prstGeom prst="ellipse">
            <a:avLst/>
          </a:prstGeom>
          <a:solidFill>
            <a:srgbClr val="AD701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0984687" y="392277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8158277" y="3904488"/>
            <a:ext cx="26618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نظرة إدارية شاملة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158277" y="4242816"/>
            <a:ext cx="266181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1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مقارنة المعلّمين، وترتيب أعلى الطلاب تقدّمًا على مستوى المؤسسة كلّها.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9768" y="1344168"/>
            <a:ext cx="6455664" cy="4582573"/>
          </a:xfrm>
          <a:prstGeom prst="rect">
            <a:avLst/>
          </a:prstGeom>
          <a:solidFill>
            <a:srgbClr val="FFFFFF"/>
          </a:solidFill>
          <a:ln w="12700">
            <a:solidFill>
              <a:srgbClr val="E4E0D4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pic>
        <p:nvPicPr>
          <p:cNvPr id="3" name="Image 0" descr="/tmp/deck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17320"/>
            <a:ext cx="6309360" cy="443626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406640" y="1051560"/>
            <a:ext cx="4236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spc="100" kern="0" dirty="0">
                <a:solidFill>
                  <a:srgbClr val="AD7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الواجهة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7406640" y="1417320"/>
            <a:ext cx="4236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24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لوحة متابعة القرآن — منظور المعلّم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11240719" y="2468880"/>
            <a:ext cx="365760" cy="365760"/>
          </a:xfrm>
          <a:prstGeom prst="ellipse">
            <a:avLst/>
          </a:prstGeom>
          <a:solidFill>
            <a:srgbClr val="3B561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1240719" y="24597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406640" y="2414016"/>
            <a:ext cx="3706063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طلاب الحلقة في شاشة واحدة: نسبة حفظ، آخر مراجعة، حالة حضور اليوم.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11240719" y="3182112"/>
            <a:ext cx="365760" cy="365760"/>
          </a:xfrm>
          <a:prstGeom prst="ellipse">
            <a:avLst/>
          </a:prstGeom>
          <a:solidFill>
            <a:srgbClr val="3B561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1240719" y="31729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406640" y="3127248"/>
            <a:ext cx="3706063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فلاتر متقدّمة: الحالة، الحلقة، نطاق تاريخ النشاط، ونطاق نسبة التقدّم.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1240719" y="3895344"/>
            <a:ext cx="365760" cy="365760"/>
          </a:xfrm>
          <a:prstGeom prst="ellipse">
            <a:avLst/>
          </a:prstGeom>
          <a:solidFill>
            <a:srgbClr val="3B561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1240719" y="3886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7406640" y="3840480"/>
            <a:ext cx="3706063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تسجيل سريع لدرس حفظ أو مراجعة دون مغادرة اللوحة.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7406640" y="5943600"/>
            <a:ext cx="4236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71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بيانات تجريبية لأغراض العرض فقط.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9768" y="1344168"/>
            <a:ext cx="6455664" cy="4582573"/>
          </a:xfrm>
          <a:prstGeom prst="rect">
            <a:avLst/>
          </a:prstGeom>
          <a:solidFill>
            <a:srgbClr val="FFFFFF"/>
          </a:solidFill>
          <a:ln w="12700">
            <a:solidFill>
              <a:srgbClr val="E4E0D4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pic>
        <p:nvPicPr>
          <p:cNvPr id="3" name="Image 0" descr="/tmp/deck_poem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17320"/>
            <a:ext cx="6309360" cy="443626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406640" y="1051560"/>
            <a:ext cx="4236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spc="100" kern="0" dirty="0">
                <a:solidFill>
                  <a:srgbClr val="AD7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الواجهة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7406640" y="1417320"/>
            <a:ext cx="4236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24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المتون العلمية — تتبّع متوازٍ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11240719" y="2468880"/>
            <a:ext cx="365760" cy="365760"/>
          </a:xfrm>
          <a:prstGeom prst="ellipse">
            <a:avLst/>
          </a:prstGeom>
          <a:solidFill>
            <a:srgbClr val="3B561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1240719" y="24597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406640" y="2414016"/>
            <a:ext cx="3706063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ستّة متون مدعومة معًا (الجزرية، تحفة الأطفال، الشاطبية، وغيرها).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11240719" y="3182112"/>
            <a:ext cx="365760" cy="365760"/>
          </a:xfrm>
          <a:prstGeom prst="ellipse">
            <a:avLst/>
          </a:prstGeom>
          <a:solidFill>
            <a:srgbClr val="3B561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1240719" y="31729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406640" y="3127248"/>
            <a:ext cx="3706063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الطالب قد يعمل على أكثر من متن في آنٍ واحد — لا تسلسل إجباري.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1240719" y="3895344"/>
            <a:ext cx="365760" cy="365760"/>
          </a:xfrm>
          <a:prstGeom prst="ellipse">
            <a:avLst/>
          </a:prstGeom>
          <a:solidFill>
            <a:srgbClr val="3B561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1240719" y="3886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7406640" y="3840480"/>
            <a:ext cx="3706063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نسبة إنجاز حقيقية لكل متن محسوبة من عدد الأبيات المسمَّعة فعليًا.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9768" y="1344168"/>
            <a:ext cx="6455664" cy="4582573"/>
          </a:xfrm>
          <a:prstGeom prst="rect">
            <a:avLst/>
          </a:prstGeom>
          <a:solidFill>
            <a:srgbClr val="FFFFFF"/>
          </a:solidFill>
          <a:ln w="12700">
            <a:solidFill>
              <a:srgbClr val="E4E0D4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pic>
        <p:nvPicPr>
          <p:cNvPr id="3" name="Image 0" descr="/tmp/deck_attend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17320"/>
            <a:ext cx="6309360" cy="443626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406640" y="1051560"/>
            <a:ext cx="4236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spc="100" kern="0" dirty="0">
                <a:solidFill>
                  <a:srgbClr val="AD7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الواجهة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7406640" y="1417320"/>
            <a:ext cx="4236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24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الحضور — تنبيه مبكر لا عقاب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11240719" y="2468880"/>
            <a:ext cx="365760" cy="365760"/>
          </a:xfrm>
          <a:prstGeom prst="ellipse">
            <a:avLst/>
          </a:prstGeom>
          <a:solidFill>
            <a:srgbClr val="3B561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1240719" y="24597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406640" y="2414016"/>
            <a:ext cx="3706063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تحضير يومي سريع لكل طلاب الحلقة بضغطة واحدة لكل حالة.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11240719" y="3182112"/>
            <a:ext cx="365760" cy="365760"/>
          </a:xfrm>
          <a:prstGeom prst="ellipse">
            <a:avLst/>
          </a:prstGeom>
          <a:solidFill>
            <a:srgbClr val="3B561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1240719" y="31729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406640" y="3127248"/>
            <a:ext cx="3706063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رصد تلقائي للانقطاع المتتابع مع مؤشّر «بحاجة إلى متابعة».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1240719" y="3895344"/>
            <a:ext cx="365760" cy="365760"/>
          </a:xfrm>
          <a:prstGeom prst="ellipse">
            <a:avLst/>
          </a:prstGeom>
          <a:solidFill>
            <a:srgbClr val="3B561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1240719" y="3886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7406640" y="3840480"/>
            <a:ext cx="3706063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سجلّ حضور كامل يغذّي تقارير الفترة والإحصاءات العامة.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9768" y="1344168"/>
            <a:ext cx="6455664" cy="4582573"/>
          </a:xfrm>
          <a:prstGeom prst="rect">
            <a:avLst/>
          </a:prstGeom>
          <a:solidFill>
            <a:srgbClr val="FFFFFF"/>
          </a:solidFill>
          <a:ln w="12700">
            <a:solidFill>
              <a:srgbClr val="E4E0D4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pic>
        <p:nvPicPr>
          <p:cNvPr id="3" name="Image 0" descr="/tmp/deck_repor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17320"/>
            <a:ext cx="6309360" cy="443626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406640" y="1051560"/>
            <a:ext cx="4236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spc="100" kern="0" dirty="0">
                <a:solidFill>
                  <a:srgbClr val="AD7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الواجهة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7406640" y="1417320"/>
            <a:ext cx="4236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24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التقارير — من البيانات إلى القرار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11240719" y="2468880"/>
            <a:ext cx="365760" cy="365760"/>
          </a:xfrm>
          <a:prstGeom prst="ellipse">
            <a:avLst/>
          </a:prstGeom>
          <a:solidFill>
            <a:srgbClr val="3B561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1240719" y="24597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406640" y="2414016"/>
            <a:ext cx="3706063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مركز تقارير موحّد: إحصاءات عامة، تقرير فترة، توزيع حسب الحالة.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11240719" y="3182112"/>
            <a:ext cx="365760" cy="365760"/>
          </a:xfrm>
          <a:prstGeom prst="ellipse">
            <a:avLst/>
          </a:prstGeom>
          <a:solidFill>
            <a:srgbClr val="3B561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1240719" y="31729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406640" y="3127248"/>
            <a:ext cx="3706063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تصدير مباشر بصيغتَي Excel وCSV لأي مدى تاريخي.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1240719" y="3895344"/>
            <a:ext cx="365760" cy="365760"/>
          </a:xfrm>
          <a:prstGeom prst="ellipse">
            <a:avLst/>
          </a:prstGeom>
          <a:solidFill>
            <a:srgbClr val="3B561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1240719" y="3886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7406640" y="3840480"/>
            <a:ext cx="3706063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قسم مخصّص لرصد الطلاب الذين يحتاجون متابعة فورية.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9768" y="1344168"/>
            <a:ext cx="6455664" cy="4582573"/>
          </a:xfrm>
          <a:prstGeom prst="rect">
            <a:avLst/>
          </a:prstGeom>
          <a:solidFill>
            <a:srgbClr val="FFFFFF"/>
          </a:solidFill>
          <a:ln w="12700">
            <a:solidFill>
              <a:srgbClr val="E4E0D4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pic>
        <p:nvPicPr>
          <p:cNvPr id="3" name="Image 0" descr="/tmp/deck_admin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17320"/>
            <a:ext cx="6309360" cy="443626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406640" y="1051560"/>
            <a:ext cx="4236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spc="100" kern="0" dirty="0">
                <a:solidFill>
                  <a:srgbClr val="AD7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الواجهة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7406640" y="1417320"/>
            <a:ext cx="4236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24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لوحة الإدارة — إشراف مؤسسي كامل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11240719" y="2468880"/>
            <a:ext cx="365760" cy="365760"/>
          </a:xfrm>
          <a:prstGeom prst="ellipse">
            <a:avLst/>
          </a:prstGeom>
          <a:solidFill>
            <a:srgbClr val="3B561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1240719" y="24597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406640" y="2414016"/>
            <a:ext cx="3706063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إدارة حسابات كل المعلّمين من مكان واحد: إنشاء، تعطيل، توليد كلمة مرور.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11240719" y="3182112"/>
            <a:ext cx="365760" cy="365760"/>
          </a:xfrm>
          <a:prstGeom prst="ellipse">
            <a:avLst/>
          </a:prstGeom>
          <a:solidFill>
            <a:srgbClr val="3B561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1240719" y="31729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406640" y="3127248"/>
            <a:ext cx="3706063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حساب مدير يُفقد أبدًا — حماية صريحة على مستوى الكود والقاعدة.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1240719" y="3895344"/>
            <a:ext cx="365760" cy="365760"/>
          </a:xfrm>
          <a:prstGeom prst="ellipse">
            <a:avLst/>
          </a:prstGeom>
          <a:solidFill>
            <a:srgbClr val="3B561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1240719" y="3886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7406640" y="3840480"/>
            <a:ext cx="3706063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مقارنة أداء المعلّمين وترتيب الحلقات على مستوى المؤسسة كاملة.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1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spc="100" kern="0" dirty="0">
                <a:solidFill>
                  <a:srgbClr val="C68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التصميم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96012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الهاتف أولًا، لا كفكرة لاحقة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223760" y="2194560"/>
            <a:ext cx="384048" cy="384048"/>
          </a:xfrm>
          <a:prstGeom prst="ellipse">
            <a:avLst/>
          </a:prstGeom>
          <a:solidFill>
            <a:srgbClr val="AD701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223760" y="21854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48840"/>
            <a:ext cx="6355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DEB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شاشة صُمِّمت للجوال أولًا ثم كُبِّرت لسطح المكتب — لا العكس.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223760" y="3035808"/>
            <a:ext cx="384048" cy="384048"/>
          </a:xfrm>
          <a:prstGeom prst="ellipse">
            <a:avLst/>
          </a:prstGeom>
          <a:solidFill>
            <a:srgbClr val="AD701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223760" y="30266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990088"/>
            <a:ext cx="6355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DEB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قابل للتثبيت كتطبيق (PWA) على الهاتف مباشرة من المتصفح.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223760" y="3877056"/>
            <a:ext cx="384048" cy="384048"/>
          </a:xfrm>
          <a:prstGeom prst="ellipse">
            <a:avLst/>
          </a:prstGeom>
          <a:solidFill>
            <a:srgbClr val="AD701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223760" y="38679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3831336"/>
            <a:ext cx="6355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DEB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وضعان: نهاري وليلي حقيقيان، يحفظان راحة عين المعلّم في الاستخدام اليومي الطويل.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223760" y="4718304"/>
            <a:ext cx="384048" cy="384048"/>
          </a:xfrm>
          <a:prstGeom prst="ellipse">
            <a:avLst/>
          </a:prstGeom>
          <a:solidFill>
            <a:srgbClr val="AD701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223760" y="47091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4672584"/>
            <a:ext cx="6355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DEB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طباعة عربية وتباين ألوان مطابقان لمعايير الوصولية (WCAG AA).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823960" y="777240"/>
            <a:ext cx="2532888" cy="5247249"/>
          </a:xfrm>
          <a:prstGeom prst="roundRect">
            <a:avLst>
              <a:gd name="adj" fmla="val 6498"/>
            </a:avLst>
          </a:prstGeom>
          <a:solidFill>
            <a:srgbClr val="1E2124"/>
          </a:solidFill>
          <a:ln w="19050">
            <a:solidFill>
              <a:srgbClr val="33363A"/>
            </a:solidFill>
            <a:prstDash val="solid"/>
          </a:ln>
        </p:spPr>
      </p:sp>
      <p:pic>
        <p:nvPicPr>
          <p:cNvPr id="17" name="Image 0" descr="/tmp/deck_mob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24544" y="877824"/>
            <a:ext cx="2331720" cy="5046081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A6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spc="100" kern="0" dirty="0">
                <a:solidFill>
                  <a:srgbClr val="AD7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الأمان والخصوصية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4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نظام مغلق بالتصميم، لا بالترقيع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1091153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71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قرار مؤسسي واعٍ: لا تسجيل ذاتي لأي طرف، ولا بريد إلكتروني في أي مكان من النظام. كل حساب يُنشئه المدير وحده من داخل لوحة الإدارة، ويُسلَّم يدويًا — نمط معتمد وشائع في الأنظمة المؤسسية المغلقة، وأكثر أمانًا من مسارات التسجيل والاستعادة بالبريد التي تحمل أعطالًا معروفة في أنظمة مشابهة.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788920"/>
            <a:ext cx="5181448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9E5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90008" y="3044952"/>
            <a:ext cx="457200" cy="457200"/>
          </a:xfrm>
          <a:prstGeom prst="ellipse">
            <a:avLst/>
          </a:prstGeom>
          <a:solidFill>
            <a:srgbClr val="3B561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90008" y="3035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990088"/>
            <a:ext cx="42213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تسجيل ذاتي إطلاقًا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410712"/>
            <a:ext cx="463280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1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مسارات إنشاء الحساب الذاتي والاستعادة بالبريد أُزيلت من الكود كليًا، لا أُخفيت من الواجهة فقط.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70168" y="2788920"/>
            <a:ext cx="5181448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9E5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820095" y="3044952"/>
            <a:ext cx="457200" cy="457200"/>
          </a:xfrm>
          <a:prstGeom prst="ellipse">
            <a:avLst/>
          </a:prstGeom>
          <a:solidFill>
            <a:srgbClr val="3B561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820095" y="3035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644488" y="2990088"/>
            <a:ext cx="42213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حساب مدير لا يُفقد أبدًا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6644488" y="3410712"/>
            <a:ext cx="463280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1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حارس صريح في قاعدة البيانات وطبقة الكود يمنع حذف أو تعطيل آخر حساب مدير نشط.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4800600"/>
            <a:ext cx="5181448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9E5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90008" y="5056632"/>
            <a:ext cx="457200" cy="457200"/>
          </a:xfrm>
          <a:prstGeom prst="ellipse">
            <a:avLst/>
          </a:prstGeom>
          <a:solidFill>
            <a:srgbClr val="3B561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090008" y="50474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5001768"/>
            <a:ext cx="42213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مسار طوارئ من الخادم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5422392"/>
            <a:ext cx="463280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1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أمر تشغيل مباشر لاسترجاع دخول المدير عند الحاجة، بمعزل تام عن الواجهة العامة.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70168" y="4800600"/>
            <a:ext cx="5181448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9E5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820095" y="5056632"/>
            <a:ext cx="457200" cy="457200"/>
          </a:xfrm>
          <a:prstGeom prst="ellipse">
            <a:avLst/>
          </a:prstGeom>
          <a:solidFill>
            <a:srgbClr val="3B561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820095" y="50474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644488" y="5001768"/>
            <a:ext cx="42213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بيانات لا تغادر المؤسسة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6644488" y="5422392"/>
            <a:ext cx="463280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1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روابط مشاركة عامة، لا رموز موقّعة تُرسَل خارجيًا — كل تقرير يُستهلك داخل حسابات النظام فقط.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435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spc="100" kern="0" dirty="0">
                <a:solidFill>
                  <a:srgbClr val="C68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الانضباط الهندسي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960120"/>
            <a:ext cx="1072865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مبنيّ باختبار حقيقي، لا بالثقة العمياء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2057400"/>
            <a:ext cx="3332378" cy="1828800"/>
          </a:xfrm>
          <a:prstGeom prst="roundRect">
            <a:avLst>
              <a:gd name="adj" fmla="val 5000"/>
            </a:avLst>
          </a:prstGeom>
          <a:solidFill>
            <a:srgbClr val="1E212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2212848"/>
            <a:ext cx="333237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C68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294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3108960"/>
            <a:ext cx="287517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DEB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اختبارًا آليًا ناجحًا يُشغَّل قبل كل إصدار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429658" y="2057400"/>
            <a:ext cx="3332378" cy="1828800"/>
          </a:xfrm>
          <a:prstGeom prst="roundRect">
            <a:avLst>
              <a:gd name="adj" fmla="val 5000"/>
            </a:avLst>
          </a:prstGeom>
          <a:solidFill>
            <a:srgbClr val="1E212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429658" y="2212848"/>
            <a:ext cx="333237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C68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38+</a:t>
            </a:r>
            <a:endParaRPr lang="en-US" sz="4600" dirty="0"/>
          </a:p>
        </p:txBody>
      </p:sp>
      <p:sp>
        <p:nvSpPr>
          <p:cNvPr id="9" name="Text 7"/>
          <p:cNvSpPr txBox="1"/>
          <p:nvPr/>
        </p:nvSpPr>
        <p:spPr>
          <a:xfrm>
            <a:off x="4658258" y="3108960"/>
            <a:ext cx="287517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DEB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سبرنت تطوير مُسلَّم تباعًا منذ الانطلاقة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27797" y="2057400"/>
            <a:ext cx="3332378" cy="1828800"/>
          </a:xfrm>
          <a:prstGeom prst="roundRect">
            <a:avLst>
              <a:gd name="adj" fmla="val 5000"/>
            </a:avLst>
          </a:prstGeom>
          <a:solidFill>
            <a:srgbClr val="1E212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127797" y="2212848"/>
            <a:ext cx="333237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C68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4600" dirty="0"/>
          </a:p>
        </p:txBody>
      </p:sp>
      <p:sp>
        <p:nvSpPr>
          <p:cNvPr id="12" name="Text 10"/>
          <p:cNvSpPr txBox="1"/>
          <p:nvPr/>
        </p:nvSpPr>
        <p:spPr>
          <a:xfrm>
            <a:off x="8356397" y="3108960"/>
            <a:ext cx="287517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DEB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تحقّق حيّ عبر متصفح حقيقي قبل كل تسليم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0957255" y="4343400"/>
            <a:ext cx="384048" cy="384048"/>
          </a:xfrm>
          <a:prstGeom prst="ellipse">
            <a:avLst/>
          </a:prstGeom>
          <a:solidFill>
            <a:srgbClr val="AD701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957255" y="43342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297680"/>
            <a:ext cx="990569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DEB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إصدار يُتحقَّق منه يدويًا على قاعدة بيانات حقيقية (MariaDB) لا محاكاة فقط.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10957255" y="5001768"/>
            <a:ext cx="384048" cy="384048"/>
          </a:xfrm>
          <a:prstGeom prst="ellipse">
            <a:avLst/>
          </a:prstGeom>
          <a:solidFill>
            <a:srgbClr val="AD701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957255" y="49926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956048"/>
            <a:ext cx="990569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DEB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لقطات ومسارات فعلية عبر متصفح آلي (Playwright) في الوضعين النهاري والليلي وعلى عرض هاتف.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10957255" y="5660136"/>
            <a:ext cx="384048" cy="384048"/>
          </a:xfrm>
          <a:prstGeom prst="ellipse">
            <a:avLst/>
          </a:prstGeom>
          <a:solidFill>
            <a:srgbClr val="AD701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957255" y="56509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5614416"/>
            <a:ext cx="990569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DEB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ميزة جديدة تُبنى قبل إغلاق أي عطل حرج مرصود — قاعدة صارمة منذ أول سبرنت.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A6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1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spc="100" kern="0" dirty="0">
                <a:solidFill>
                  <a:srgbClr val="C68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الهوية البصرية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رِواق.. مساحتك لمتابعة طلابك بدقة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28800" y="1920240"/>
            <a:ext cx="3657600" cy="4206240"/>
          </a:xfrm>
          <a:prstGeom prst="roundRect">
            <a:avLst>
              <a:gd name="adj" fmla="val 3000"/>
            </a:avLst>
          </a:prstGeom>
          <a:solidFill>
            <a:srgbClr val="FBF9F3"/>
          </a:solidFill>
          <a:ln/>
        </p:spPr>
      </p:sp>
      <p:pic>
        <p:nvPicPr>
          <p:cNvPr id="5" name="Image 0" descr="/home/claude/logowork/logo-full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0" y="2047399"/>
            <a:ext cx="2743200" cy="395192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828800" y="5806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A6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الوضع النهاري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675120" y="1920240"/>
            <a:ext cx="3657600" cy="4206240"/>
          </a:xfrm>
          <a:prstGeom prst="roundRect">
            <a:avLst>
              <a:gd name="adj" fmla="val 3000"/>
            </a:avLst>
          </a:prstGeom>
          <a:solidFill>
            <a:srgbClr val="1E2124"/>
          </a:solidFill>
          <a:ln w="12700">
            <a:solidFill>
              <a:srgbClr val="33363A"/>
            </a:solidFill>
            <a:prstDash val="solid"/>
          </a:ln>
        </p:spPr>
      </p:sp>
      <p:pic>
        <p:nvPicPr>
          <p:cNvPr id="8" name="Image 1" descr="/home/claude/logowork/logo-full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2047399"/>
            <a:ext cx="2743200" cy="3951923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675120" y="5806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A6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الوضع الليلي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A6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spc="100" kern="0" dirty="0">
                <a:solidFill>
                  <a:srgbClr val="AD7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أين نحن الآن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4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الوضع الحالي وخارطة الطريق القادمة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309360" y="16916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3B5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منجَز ومُختبَر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0881360" y="2148840"/>
            <a:ext cx="329184" cy="329184"/>
          </a:xfrm>
          <a:prstGeom prst="ellipse">
            <a:avLst/>
          </a:prstGeom>
          <a:solidFill>
            <a:srgbClr val="3B561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881360" y="213969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2093976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نظام حسابات مغلق بالكامل + أدوار مدير/معلّم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0881360" y="2715768"/>
            <a:ext cx="329184" cy="329184"/>
          </a:xfrm>
          <a:prstGeom prst="ellipse">
            <a:avLst/>
          </a:prstGeom>
          <a:solidFill>
            <a:srgbClr val="3B561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881360" y="27066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309360" y="2660904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محرّك نسبة حفظ دقيق موزون بحجم القرآن الفعلي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0881360" y="3282696"/>
            <a:ext cx="329184" cy="329184"/>
          </a:xfrm>
          <a:prstGeom prst="ellipse">
            <a:avLst/>
          </a:prstGeom>
          <a:solidFill>
            <a:srgbClr val="3B561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881360" y="327355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3227832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الحضور والمتون وسجلّ الحفظ/المراجعة الكامل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0881360" y="3849624"/>
            <a:ext cx="329184" cy="329184"/>
          </a:xfrm>
          <a:prstGeom prst="ellipse">
            <a:avLst/>
          </a:prstGeom>
          <a:solidFill>
            <a:srgbClr val="3B561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881360" y="38404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309360" y="379476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لوحة إشراف إدارية شاملة عبر كل المعلّمين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0881360" y="4416552"/>
            <a:ext cx="329184" cy="329184"/>
          </a:xfrm>
          <a:prstGeom prst="ellipse">
            <a:avLst/>
          </a:prstGeom>
          <a:solidFill>
            <a:srgbClr val="3B561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881360" y="44074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309360" y="4361688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تقارير قابلة للتصدير + هوية «رِواق» الجديدة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16916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AD7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القادم على الخارطة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532120" y="2148840"/>
            <a:ext cx="329184" cy="329184"/>
          </a:xfrm>
          <a:prstGeom prst="ellipse">
            <a:avLst/>
          </a:prstGeom>
          <a:solidFill>
            <a:srgbClr val="AD701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532120" y="213969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2093976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هرمية إشرافية أوسع (مشرف بين المدير والمعلّمين)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532120" y="2788920"/>
            <a:ext cx="329184" cy="329184"/>
          </a:xfrm>
          <a:prstGeom prst="ellipse">
            <a:avLst/>
          </a:prstGeom>
          <a:solidFill>
            <a:srgbClr val="AD701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532120" y="277977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2734056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خطط حفظ رسمية وتقييم دوري وشهادات إتمام داخلية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532120" y="3429000"/>
            <a:ext cx="329184" cy="329184"/>
          </a:xfrm>
          <a:prstGeom prst="ellipse">
            <a:avLst/>
          </a:prstGeom>
          <a:solidFill>
            <a:srgbClr val="AD701C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532120" y="34198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1051560" y="3374136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سجلّ تدقيق داخلي وإشعارات متابعة بين الإدارة والمعلّمين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532120" y="4069080"/>
            <a:ext cx="329184" cy="329184"/>
          </a:xfrm>
          <a:prstGeom prst="ellipse">
            <a:avLst/>
          </a:prstGeom>
          <a:solidFill>
            <a:srgbClr val="AD701C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532120" y="405993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051560" y="4014216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نضج تقني للإنتاج: استضافة، نسخ احتياطي آلي، مراقبة أعطال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053328" y="1737360"/>
            <a:ext cx="0" cy="4206240"/>
          </a:xfrm>
          <a:prstGeom prst="line">
            <a:avLst/>
          </a:prstGeom>
          <a:noFill/>
          <a:ln w="12700">
            <a:solidFill>
              <a:srgbClr val="DCD6C4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61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-2194560"/>
            <a:ext cx="5943600" cy="5943600"/>
          </a:xfrm>
          <a:prstGeom prst="ellipse">
            <a:avLst/>
          </a:prstGeom>
          <a:solidFill>
            <a:srgbClr val="1E2124"/>
          </a:solidFill>
          <a:ln/>
        </p:spPr>
      </p:sp>
      <p:pic>
        <p:nvPicPr>
          <p:cNvPr id="3" name="Image 0" descr="/home/claude/logowork/logo-mark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7208" y="64008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1965960"/>
            <a:ext cx="1072865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لنبنِ معًا مستقبل متابعة تحفيظ القرآن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1463040" y="2834640"/>
            <a:ext cx="92656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EDEB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رِواق اليوم منتج قائم، مُختبَر، ويعمل فعليًا في بيئة حقيقية. نبحث عن شركاء ومستثمرين يشاركوننا الرؤية لتوسيع أثره ليصل إلى مزيد من مراكز ودور تحفيظ القرآن.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3718408" y="4160520"/>
            <a:ext cx="4754880" cy="1371600"/>
          </a:xfrm>
          <a:prstGeom prst="roundRect">
            <a:avLst>
              <a:gd name="adj" fmla="val 6667"/>
            </a:avLst>
          </a:prstGeom>
          <a:solidFill>
            <a:srgbClr val="1E2124"/>
          </a:solidFill>
          <a:ln w="12700">
            <a:solidFill>
              <a:srgbClr val="33363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901288" y="431596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A6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للتواصل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3901288" y="46177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68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فريق رِواق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0" y="612648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A6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شكرًا لوقتكم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A6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2026-09-24T06:52:35Z</dcterms:created>
  <dcterms:modified xsi:type="dcterms:W3CDTF">2026-09-24T06:52:35Z</dcterms:modified>
</cp:coreProperties>
</file>